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Petrona Bold"/>
      <p:regular r:id="rId17"/>
    </p:embeddedFont>
    <p:embeddedFont>
      <p:font typeface="Inter"/>
      <p:regular r:id="rId18"/>
    </p:embeddedFont>
    <p:embeddedFont>
      <p:font typeface="Inter Bold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slideLayout" Target="../slideLayouts/slideLayout5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slideLayout" Target="../slideLayouts/slideLayout8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647081"/>
            <a:ext cx="4722763" cy="974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Financial Fraud Detection Dashboard</a:t>
            </a:r>
            <a:endParaRPr lang="en-US" sz="3050" dirty="0"/>
          </a:p>
        </p:txBody>
      </p:sp>
      <p:sp>
        <p:nvSpPr>
          <p:cNvPr id="4" name="Text 1"/>
          <p:cNvSpPr/>
          <p:nvPr/>
        </p:nvSpPr>
        <p:spPr>
          <a:xfrm>
            <a:off x="496119" y="2834208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Internship Task 4 · Power BI Analytics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225254"/>
            <a:ext cx="1130498" cy="266402"/>
          </a:xfrm>
          <a:prstGeom prst="roundRect">
            <a:avLst>
              <a:gd name="adj" fmla="val 17880"/>
            </a:avLst>
          </a:prstGeom>
          <a:solidFill>
            <a:srgbClr val="E0D7F4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3267745"/>
            <a:ext cx="1417588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ANALYTICS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697459" y="3220492"/>
            <a:ext cx="727918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6237C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787277" y="3267745"/>
            <a:ext cx="100548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6237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496220" y="3220492"/>
            <a:ext cx="1243087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6237C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86038" y="3267745"/>
            <a:ext cx="152065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6237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FRAUD DETECTION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23317"/>
            <a:ext cx="4355753" cy="487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Project Objective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496119" y="1594098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leverages Power BI to transform raw financial transaction data into actionable intelligence — enabling faster detection of fraudulent activity and more informed decision-making.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207196"/>
            <a:ext cx="2622724" cy="2112987"/>
          </a:xfrm>
          <a:prstGeom prst="roundRect">
            <a:avLst>
              <a:gd name="adj" fmla="val 2818"/>
            </a:avLst>
          </a:prstGeom>
          <a:solidFill>
            <a:srgbClr val="E0D7F4"/>
          </a:solidFill>
          <a:ln w="4763">
            <a:solidFill>
              <a:srgbClr val="C6BD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2640" y="2353717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6237C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619" y="2470621"/>
            <a:ext cx="191319" cy="1913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2640" y="2920752"/>
            <a:ext cx="2278707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Analyze Transaction Data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2640" y="3249513"/>
            <a:ext cx="232968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Explore patterns and anomalies across millions of financial records.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60601" y="2207196"/>
            <a:ext cx="2622724" cy="2112987"/>
          </a:xfrm>
          <a:prstGeom prst="roundRect">
            <a:avLst>
              <a:gd name="adj" fmla="val 2818"/>
            </a:avLst>
          </a:prstGeom>
          <a:solidFill>
            <a:srgbClr val="E0D7F4"/>
          </a:solidFill>
          <a:ln w="4763">
            <a:solidFill>
              <a:srgbClr val="C6BDD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07122" y="2353717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6237C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24101" y="2470621"/>
            <a:ext cx="191319" cy="1913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07122" y="2920752"/>
            <a:ext cx="2076971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Identify Fraud Patterns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407122" y="3249513"/>
            <a:ext cx="232968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Surface behavioral signals that distinguish legitimate from fraudulent transactions.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25083" y="2207196"/>
            <a:ext cx="2622724" cy="2112987"/>
          </a:xfrm>
          <a:prstGeom prst="roundRect">
            <a:avLst>
              <a:gd name="adj" fmla="val 2818"/>
            </a:avLst>
          </a:prstGeom>
          <a:solidFill>
            <a:srgbClr val="E0D7F4"/>
          </a:solidFill>
          <a:ln w="4763">
            <a:solidFill>
              <a:srgbClr val="C6BDD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171605" y="2353717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6237C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8584" y="2470621"/>
            <a:ext cx="191319" cy="19131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71605" y="2920752"/>
            <a:ext cx="2329681" cy="4874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Build an Interactive Dashboard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171605" y="3493219"/>
            <a:ext cx="232968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a Power BI dashboard with dynamic filters and visual summaries.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36426"/>
            <a:ext cx="3563838" cy="388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Dataset at a Glance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489" y="960909"/>
            <a:ext cx="4970190" cy="28164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25071" y="1988046"/>
            <a:ext cx="2883396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Financial Fraud Detection Dataset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925071" y="2272085"/>
            <a:ext cx="2549054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structured dataset capturing simulated mobile money transactions, widely used for fraud detection research and benchmarking.</a:t>
            </a:r>
            <a:endParaRPr lang="en-US" sz="8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202" y="3979738"/>
            <a:ext cx="2552626" cy="82726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44600" y="4106987"/>
            <a:ext cx="1553319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Source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844600" y="4355009"/>
            <a:ext cx="2240979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Kaggle — Financial Fraud Detection Dataset</a:t>
            </a:r>
            <a:endParaRPr lang="en-US" sz="8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88506" y="3979738"/>
            <a:ext cx="2552626" cy="82726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472904" y="4106987"/>
            <a:ext cx="1553319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Scale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472904" y="4355009"/>
            <a:ext cx="224097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 6 million transaction records</a:t>
            </a:r>
            <a:endParaRPr lang="en-US" sz="8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16811" y="3979738"/>
            <a:ext cx="2552626" cy="82726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01209" y="4106987"/>
            <a:ext cx="1553319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Context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101209" y="4355009"/>
            <a:ext cx="2240979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Simulated mobile money transfers with labeled fraud outcomes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422672"/>
            <a:ext cx="4294882" cy="479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Data Columns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88379" y="1177082"/>
            <a:ext cx="862444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field plays a distinct role in profiling transaction behavior and flagging suspicious activity.</a:t>
            </a:r>
            <a:endParaRPr lang="en-US" sz="1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8379" y="1553021"/>
            <a:ext cx="279053" cy="27905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88379" y="2003747"/>
            <a:ext cx="1918841" cy="239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amount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88379" y="2325960"/>
            <a:ext cx="260791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 value — a primary indicator of financial exposure.</a:t>
            </a:r>
            <a:endParaRPr lang="en-US" sz="10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7968" y="1553021"/>
            <a:ext cx="279053" cy="27905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67968" y="2003747"/>
            <a:ext cx="1918841" cy="239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type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3267968" y="2325960"/>
            <a:ext cx="260799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 category: PAYMENT, TRANSFER, CASH_OUT, DEPOSIT, etc.</a:t>
            </a:r>
            <a:endParaRPr lang="en-US" sz="10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7631" y="1553021"/>
            <a:ext cx="279053" cy="27905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47631" y="2003747"/>
            <a:ext cx="1918841" cy="239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isFraud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6047631" y="2325960"/>
            <a:ext cx="260791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Binary label indicating confirmed fraudulent transactions.</a:t>
            </a:r>
            <a:endParaRPr lang="en-US" sz="10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8379" y="3043610"/>
            <a:ext cx="279053" cy="27905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88379" y="3494336"/>
            <a:ext cx="1918841" cy="239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isFlaggedFraud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488379" y="3816548"/>
            <a:ext cx="260791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System-generated flag for suspicious activity requiring review.</a:t>
            </a:r>
            <a:endParaRPr lang="en-US" sz="10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67968" y="3043610"/>
            <a:ext cx="279053" cy="27905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267968" y="3494336"/>
            <a:ext cx="2607990" cy="4796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oldbalanceOrg / newbalanceOrig</a:t>
            </a:r>
            <a:endParaRPr lang="en-US" sz="1500" dirty="0"/>
          </a:p>
        </p:txBody>
      </p:sp>
      <p:sp>
        <p:nvSpPr>
          <p:cNvPr id="18" name="Text 11"/>
          <p:cNvSpPr/>
          <p:nvPr/>
        </p:nvSpPr>
        <p:spPr>
          <a:xfrm>
            <a:off x="3267968" y="4056385"/>
            <a:ext cx="2607990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Sender's balance before and after the transaction — critical for detecting balance manipulation.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731193"/>
            <a:ext cx="4355753" cy="487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Dashboard Overview</a:t>
            </a:r>
            <a:endParaRPr lang="en-US" sz="3050" dirty="0"/>
          </a:p>
        </p:txBody>
      </p:sp>
      <p:sp>
        <p:nvSpPr>
          <p:cNvPr id="4" name="Text 1"/>
          <p:cNvSpPr/>
          <p:nvPr/>
        </p:nvSpPr>
        <p:spPr>
          <a:xfrm>
            <a:off x="496119" y="1431057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Power BI dashboard consolidates transaction metrics, fraud indicators, and interactive filters into a single analytical view — designed for rapid situational awareness.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2270968"/>
            <a:ext cx="4722763" cy="2141339"/>
          </a:xfrm>
          <a:prstGeom prst="roundRect">
            <a:avLst>
              <a:gd name="adj" fmla="val 2781"/>
            </a:avLst>
          </a:prstGeom>
          <a:solidFill>
            <a:srgbClr val="E0D7F4"/>
          </a:solidFill>
          <a:ln w="4763">
            <a:solidFill>
              <a:srgbClr val="C6BDD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0881" y="2275731"/>
            <a:ext cx="2356619" cy="1292721"/>
          </a:xfrm>
          <a:prstGeom prst="roundRect">
            <a:avLst>
              <a:gd name="adj" fmla="val 4606"/>
            </a:avLst>
          </a:prstGeom>
          <a:solidFill>
            <a:srgbClr val="E0D7F4"/>
          </a:solidFill>
          <a:ln/>
        </p:spPr>
      </p:sp>
      <p:sp>
        <p:nvSpPr>
          <p:cNvPr id="7" name="Text 4"/>
          <p:cNvSpPr/>
          <p:nvPr/>
        </p:nvSpPr>
        <p:spPr>
          <a:xfrm>
            <a:off x="642640" y="2417490"/>
            <a:ext cx="1949276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KPI Cards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2640" y="2746251"/>
            <a:ext cx="207310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transactions, fraud rate, and financial impact at a glance.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857500" y="2275731"/>
            <a:ext cx="2356619" cy="1292721"/>
          </a:xfrm>
          <a:prstGeom prst="rect">
            <a:avLst/>
          </a:prstGeom>
          <a:solidFill>
            <a:srgbClr val="E0D7F4"/>
          </a:solidFill>
          <a:ln/>
        </p:spPr>
      </p:sp>
      <p:sp>
        <p:nvSpPr>
          <p:cNvPr id="10" name="Shape 7"/>
          <p:cNvSpPr/>
          <p:nvPr/>
        </p:nvSpPr>
        <p:spPr>
          <a:xfrm>
            <a:off x="2857500" y="2275731"/>
            <a:ext cx="19050" cy="1292721"/>
          </a:xfrm>
          <a:prstGeom prst="roundRect">
            <a:avLst>
              <a:gd name="adj" fmla="val 312558"/>
            </a:avLst>
          </a:prstGeom>
          <a:solidFill>
            <a:srgbClr val="C6BDDA"/>
          </a:solidFill>
          <a:ln/>
        </p:spPr>
      </p:sp>
      <p:sp>
        <p:nvSpPr>
          <p:cNvPr id="11" name="Text 8"/>
          <p:cNvSpPr/>
          <p:nvPr/>
        </p:nvSpPr>
        <p:spPr>
          <a:xfrm>
            <a:off x="2999259" y="2417490"/>
            <a:ext cx="1949276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Visual Charts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2999259" y="2746251"/>
            <a:ext cx="207310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 type distribution and fraud concentration by category.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00881" y="3568452"/>
            <a:ext cx="4713238" cy="839093"/>
          </a:xfrm>
          <a:prstGeom prst="rect">
            <a:avLst/>
          </a:prstGeom>
          <a:solidFill>
            <a:srgbClr val="E0D7F4"/>
          </a:solidFill>
          <a:ln/>
        </p:spPr>
      </p:sp>
      <p:sp>
        <p:nvSpPr>
          <p:cNvPr id="14" name="Shape 11"/>
          <p:cNvSpPr/>
          <p:nvPr/>
        </p:nvSpPr>
        <p:spPr>
          <a:xfrm>
            <a:off x="500881" y="3568452"/>
            <a:ext cx="4713238" cy="19050"/>
          </a:xfrm>
          <a:prstGeom prst="roundRect">
            <a:avLst>
              <a:gd name="adj" fmla="val 312558"/>
            </a:avLst>
          </a:prstGeom>
          <a:solidFill>
            <a:srgbClr val="C6BDDA"/>
          </a:solidFill>
          <a:ln/>
        </p:spPr>
      </p:sp>
      <p:sp>
        <p:nvSpPr>
          <p:cNvPr id="15" name="Text 12"/>
          <p:cNvSpPr/>
          <p:nvPr/>
        </p:nvSpPr>
        <p:spPr>
          <a:xfrm>
            <a:off x="642640" y="3710211"/>
            <a:ext cx="1949276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Interactive Filters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42640" y="4038972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Slice by transaction type, amount range, and fraud status.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57671"/>
            <a:ext cx="5873502" cy="487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Transaction Type Distribution</a:t>
            </a:r>
            <a:endParaRPr lang="en-US" sz="3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17005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99295"/>
            <a:ext cx="4316834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PAYMENT &amp; CASH_OUT Dominate Volume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749701" y="1884759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Together,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CASH_OUT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transactions account for the majority of all activity in the dataset, reflecting typical mobile money usage patterns.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2724671"/>
            <a:ext cx="3902943" cy="1056010"/>
          </a:xfrm>
          <a:prstGeom prst="roundRect">
            <a:avLst>
              <a:gd name="adj" fmla="val 5638"/>
            </a:avLst>
          </a:prstGeom>
          <a:solidFill>
            <a:srgbClr val="D0C3EE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2939728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0398" y="2901851"/>
            <a:ext cx="330048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While high-volume types are common, fraud risk is not proportional — TRANSFER and CASH_OUT carry disproportionately higher fraud rates.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9452" y="271983"/>
            <a:ext cx="5558507" cy="335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Fraud Concentration by Transaction Type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209452" y="2027634"/>
            <a:ext cx="2924547" cy="167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TRANSFER &amp; CASH_OUT Are High-Risk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209452" y="2262113"/>
            <a:ext cx="3243635" cy="526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Despite lower overall volume, </a:t>
            </a:r>
            <a:pPr algn="l" indent="0" marL="0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TRANSFER</a:t>
            </a:r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CASH_OUT</a:t>
            </a:r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transactions are the primary vectors for fraudulent activity. These types enable rapid fund movement — a key characteristic exploited by fraudsters.</a:t>
            </a:r>
            <a:endParaRPr lang="en-US" sz="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5527" y="782836"/>
            <a:ext cx="3243635" cy="3243635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5164" y="4177233"/>
            <a:ext cx="3343275" cy="69420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64010" y="4288929"/>
            <a:ext cx="1340123" cy="167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TRANSFER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1364010" y="4496619"/>
            <a:ext cx="3062734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movement of funds between accounts — easily exploited for unauthorized transfers.</a:t>
            </a:r>
            <a:endParaRPr lang="en-US" sz="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91124" y="4177233"/>
            <a:ext cx="3343349" cy="69420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759970" y="4288929"/>
            <a:ext cx="1340123" cy="167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CASH_OUT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4759970" y="4496619"/>
            <a:ext cx="3062808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Withdrawal to external accounts — often the final step in a fraud chain.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9610" y="367754"/>
            <a:ext cx="4708550" cy="441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Fraud Is Rare — But Costly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49610" y="983977"/>
            <a:ext cx="4815780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Fraudulent transactions represent a small fraction of total activity, yet their financial impact can be severe. Early detection is critical to minimizing losses.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49610" y="1571030"/>
            <a:ext cx="2335113" cy="42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~0.1%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733871" y="2146474"/>
            <a:ext cx="1766515" cy="220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Fraud Rate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49610" y="2437061"/>
            <a:ext cx="2335113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Fraudulent transactions are rare relative to total volume — but highly consequential.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930203" y="1571030"/>
            <a:ext cx="2335188" cy="42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3300" dirty="0"/>
          </a:p>
        </p:txBody>
      </p:sp>
      <p:sp>
        <p:nvSpPr>
          <p:cNvPr id="9" name="Text 6"/>
          <p:cNvSpPr/>
          <p:nvPr/>
        </p:nvSpPr>
        <p:spPr>
          <a:xfrm>
            <a:off x="3214539" y="2146474"/>
            <a:ext cx="1766515" cy="220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High-Risk Types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2930203" y="2437061"/>
            <a:ext cx="2335188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TRANSFER and CASH_OUT concentrate the majority of confirmed fraud cases.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689869" y="3321918"/>
            <a:ext cx="2335188" cy="42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6M+</a:t>
            </a:r>
            <a:endParaRPr lang="en-US" sz="3300" dirty="0"/>
          </a:p>
        </p:txBody>
      </p:sp>
      <p:sp>
        <p:nvSpPr>
          <p:cNvPr id="12" name="Text 9"/>
          <p:cNvSpPr/>
          <p:nvPr/>
        </p:nvSpPr>
        <p:spPr>
          <a:xfrm>
            <a:off x="1974205" y="3897362"/>
            <a:ext cx="1766515" cy="220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Records Analyzed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689869" y="4187949"/>
            <a:ext cx="2335188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insights are grounded in a large-scale, real-world transaction dataset.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07380"/>
            <a:ext cx="5660603" cy="487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Why This Dashboard Matters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496119" y="1478161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dashboard transforms raw data into a decision-support tool — enabling analysts and stakeholders to act quickly and confidently.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091258"/>
            <a:ext cx="1507480" cy="9316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3200102"/>
            <a:ext cx="2118717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Continuous Monitoring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96119" y="3528864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transaction behavior in near real-time to spot anomalies as they emerge.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433" y="2091258"/>
            <a:ext cx="1507480" cy="9316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72433" y="3200102"/>
            <a:ext cx="2384301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Rapid Fraud Identification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3272433" y="3528864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patterns and filters surface suspicious activity before it escalates into significant loss.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747" y="2091258"/>
            <a:ext cx="1507480" cy="93166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48747" y="3200102"/>
            <a:ext cx="1949276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Smarter Decisions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6048747" y="3528864"/>
            <a:ext cx="259913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filters empower stakeholders to drill into specific segments and validate hypotheses on the fly.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3759" y="355625"/>
            <a:ext cx="4302993" cy="365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Conclusion &amp; Key Takeaways</a:t>
            </a:r>
            <a:endParaRPr lang="en-US" sz="2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759" y="1488877"/>
            <a:ext cx="4677817" cy="26507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845746" y="920353"/>
            <a:ext cx="1919139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What We Delivered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845746" y="1192783"/>
            <a:ext cx="239167" cy="239167"/>
          </a:xfrm>
          <a:prstGeom prst="roundRect">
            <a:avLst>
              <a:gd name="adj" fmla="val 18672"/>
            </a:avLst>
          </a:prstGeom>
          <a:solidFill>
            <a:srgbClr val="E0D7F4"/>
          </a:solidFill>
          <a:ln w="4763">
            <a:solidFill>
              <a:srgbClr val="C6BDD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77632" y="1202754"/>
            <a:ext cx="175394" cy="2192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164610" y="1229320"/>
            <a:ext cx="2080245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 structured analytical framework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164610" y="1674540"/>
            <a:ext cx="2080245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 data was cleaned, modeled, and visualized in Power BI for clear interpretation.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845746" y="2280493"/>
            <a:ext cx="239167" cy="239167"/>
          </a:xfrm>
          <a:prstGeom prst="roundRect">
            <a:avLst>
              <a:gd name="adj" fmla="val 18672"/>
            </a:avLst>
          </a:prstGeom>
          <a:solidFill>
            <a:srgbClr val="E0D7F4"/>
          </a:solidFill>
          <a:ln w="4763">
            <a:solidFill>
              <a:srgbClr val="C6BDD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77632" y="2290465"/>
            <a:ext cx="175394" cy="2192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164610" y="2317031"/>
            <a:ext cx="1558900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Targeted fraud insights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164610" y="2579489"/>
            <a:ext cx="2080245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Fraud concentrates in TRANSFER and CASH_OUT — a finding that directly informs monitoring priorities.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845746" y="3185443"/>
            <a:ext cx="239167" cy="239167"/>
          </a:xfrm>
          <a:prstGeom prst="roundRect">
            <a:avLst>
              <a:gd name="adj" fmla="val 18672"/>
            </a:avLst>
          </a:prstGeom>
          <a:solidFill>
            <a:srgbClr val="E0D7F4"/>
          </a:solidFill>
          <a:ln w="4763">
            <a:solidFill>
              <a:srgbClr val="C6BDD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77632" y="3195414"/>
            <a:ext cx="175394" cy="2192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164610" y="3221980"/>
            <a:ext cx="1778943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Scalable dashboard design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164610" y="3484438"/>
            <a:ext cx="2080245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filters and KPI visuals make the dashboard adaptable for ongoing fraud analysis workflows.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5845746" y="4020592"/>
            <a:ext cx="2399109" cy="677614"/>
          </a:xfrm>
          <a:prstGeom prst="roundRect">
            <a:avLst>
              <a:gd name="adj" fmla="val 6590"/>
            </a:avLst>
          </a:prstGeom>
          <a:solidFill>
            <a:srgbClr val="B6FCB8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2009" y="4174703"/>
            <a:ext cx="132904" cy="106263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191176" y="4126855"/>
            <a:ext cx="1947416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demonstrates how Power BI can turn financial transaction data into a proactive fraud detection tool.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2026-06-04T12:26:26Z</dcterms:created>
  <dcterms:modified xsi:type="dcterms:W3CDTF">2026-06-04T12:26:26Z</dcterms:modified>
</cp:coreProperties>
</file>